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company is ranked, the tool takes it the rest of the way to a message. First, the highest-scoring Qualified and Maybe companies rise to the top. Second, we identify the buyers there, mostly HR leadership, HR systems and IT, and only treat someone as ready once we have a verified email. Third, the tool drafts an email and a LinkedIn note. This is where the Email customization page on the right comes in: we wrote one pitch per situation. If a company just went live on Workday, the message leads with expert support and documentation. If they're hiring Workday roles, it's about new hires not relearning the tenant. If a release is coming, it's about testing. The script picks the angle from the signals we already collected. The same page sets the voice: warm and plain, no hype, one low-pressure ask for a short intro call. Mando can change any of it without touching code. Finally, once a draft is sent, the lead is marked Contacted automatically. So every message is tied to a real reason to reach out, not a generic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lead moves through four stages: Queued, Contacted, Replied and Demo Booked. Each move records a timestamp, so we're not just counting leads, we can see how long it takes to get a reply and how many replies turn into demos. On the company record, every contact shows their own status, so whoever picks up a lead knows instantly whether someone has already reached out. The outreach queue can be filtered by stage, and the Activity tab shows how a company's rank has moved week to week. The point is that we can see exactly where leads stall, whether that's no reply or replies that don't convert, and follow up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the pipeline stands. We've scored and ranked 127 companies and identified 146 buyer contacts. 21 of those are ready to contact today, meaning a verified email at a company that scores high enough. The goal from the start was to take Mando from 2 to 5 qualified demos a week to 20. Today's leads, on the left, is the twice-weekly view the team uses to pick the top 10 and send. Two next steps: first, switch on status tracking in the live database so these stage counts fill in; second, send the first batch to those 21 contacts. From there we'll report replies and demos booked every week. (Confirm the numbers against the live dashboard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BE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982150" y="0"/>
            <a:ext cx="209545" cy="6858000"/>
          </a:xfrm>
          <a:prstGeom prst="rect">
            <a:avLst/>
          </a:prstGeom>
          <a:solidFill>
            <a:srgbClr val="3A3A44"/>
          </a:solidFill>
          <a:ln/>
        </p:spPr>
      </p:sp>
      <p:sp>
        <p:nvSpPr>
          <p:cNvPr id="3" name="Shape 1"/>
          <p:cNvSpPr/>
          <p:nvPr/>
        </p:nvSpPr>
        <p:spPr>
          <a:xfrm>
            <a:off x="11982150" y="0"/>
            <a:ext cx="209545" cy="1333467"/>
          </a:xfrm>
          <a:prstGeom prst="rect">
            <a:avLst/>
          </a:prstGeom>
          <a:solidFill>
            <a:srgbClr val="FFC82F"/>
          </a:solidFill>
          <a:ln/>
        </p:spPr>
      </p:sp>
      <p:sp>
        <p:nvSpPr>
          <p:cNvPr id="4" name="Text 2"/>
          <p:cNvSpPr txBox="1"/>
          <p:nvPr/>
        </p:nvSpPr>
        <p:spPr>
          <a:xfrm>
            <a:off x="419090" y="285743"/>
            <a:ext cx="8572286" cy="666733"/>
          </a:xfrm>
          <a:prstGeom prst="rect">
            <a:avLst/>
          </a:prstGeom>
          <a:noFill/>
          <a:ln/>
        </p:spPr>
        <p:txBody>
          <a:bodyPr wrap="square" lIns="0" tIns="0" rIns="0" bIns="0" rtlCol="0" anchor="ctr"/>
          <a:lstStyle/>
          <a:p>
            <a:pPr indent="0" marL="0">
              <a:buNone/>
            </a:pPr>
            <a:r>
              <a:rPr lang="en-US" sz="3300" b="1" dirty="0">
                <a:solidFill>
                  <a:srgbClr val="330F60"/>
                </a:solidFill>
              </a:rPr>
              <a:t>Automated Outreach</a:t>
            </a:r>
            <a:endParaRPr lang="en-US" sz="3300" dirty="0"/>
          </a:p>
        </p:txBody>
      </p:sp>
      <p:sp>
        <p:nvSpPr>
          <p:cNvPr id="5" name="Text 3"/>
          <p:cNvSpPr txBox="1"/>
          <p:nvPr/>
        </p:nvSpPr>
        <p:spPr>
          <a:xfrm>
            <a:off x="361941" y="6591135"/>
            <a:ext cx="2857429" cy="190495"/>
          </a:xfrm>
          <a:prstGeom prst="rect">
            <a:avLst/>
          </a:prstGeom>
          <a:noFill/>
          <a:ln/>
        </p:spPr>
        <p:txBody>
          <a:bodyPr wrap="square" lIns="0" tIns="0" rIns="0" bIns="0" rtlCol="0" anchor="ctr"/>
          <a:lstStyle/>
          <a:p>
            <a:pPr indent="0" marL="0">
              <a:buNone/>
            </a:pPr>
            <a:r>
              <a:rPr lang="en-US" sz="980" dirty="0">
                <a:solidFill>
                  <a:srgbClr val="330F60"/>
                </a:solidFill>
              </a:rPr>
              <a:t>CUBE Consulting</a:t>
            </a:r>
            <a:endParaRPr lang="en-US" sz="980" dirty="0"/>
          </a:p>
        </p:txBody>
      </p:sp>
      <p:sp>
        <p:nvSpPr>
          <p:cNvPr id="25" name="Slide Number Placeholder 0"/>
          <p:cNvSpPr>
            <a:spLocks noGrp="1"/>
          </p:cNvSpPr>
          <p:nvPr>
            <p:ph type="sldNum" sz="quarter" idx="4294967295"/>
          </p:nvPr>
        </p:nvSpPr>
        <p:spPr>
          <a:xfrm>
            <a:off x="11239219" y="6591135"/>
            <a:ext cx="380990" cy="190495"/>
          </a:xfrm>
          <a:prstGeom prst="rect">
            <a:avLst/>
          </a:prstGeom>
          <a:extLst>
            <a:ext uri="{C572A759-6A51-4108-AA02-DFA0A04FC94B}">
              <ma14:wrappingTextBoxFlag xmlns:ma14="http://schemas.microsoft.com/office/mac/drawingml/2011/main" val="0"/>
            </a:ext>
          </a:extLst>
        </p:spPr>
        <p:txBody>
          <a:bodyPr/>
          <a:lstStyle>
            <a:lvl1pPr>
              <a:defRPr sz="980">
                <a:solidFill>
                  <a:srgbClr val="330F60"/>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39219" y="6591135"/>
            <a:ext cx="380990" cy="190495"/>
          </a:xfrm>
          <a:prstGeom prst="rect">
            <a:avLst/>
          </a:prstGeom>
          <a:extLst>
            <a:ext uri="{C572A759-6A51-4108-AA02-DFA0A04FC94B}">
              <ma14:wrappingTextBoxFlag xmlns:ma14="http://schemas.microsoft.com/office/mac/drawingml/2011/main" val="0"/>
            </a:ext>
          </a:extLst>
        </p:spPr>
        <p:txBody>
          <a:bodyPr/>
          <a:lstStyle>
            <a:lvl1pPr>
              <a:defRPr sz="980">
                <a:solidFill>
                  <a:srgbClr val="330F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ndo logo"/>
          <p:cNvSpPr txBox="1"/>
          <p:nvPr/>
        </p:nvSpPr>
        <p:spPr>
          <a:xfrm>
            <a:off x="10001000"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Mando logo</a:t>
            </a:r>
            <a:endParaRPr lang="en-US" sz="830" dirty="0"/>
          </a:p>
        </p:txBody>
      </p:sp>
      <p:sp>
        <p:nvSpPr>
          <p:cNvPr id="3" name="CUBE logo"/>
          <p:cNvSpPr txBox="1"/>
          <p:nvPr/>
        </p:nvSpPr>
        <p:spPr>
          <a:xfrm>
            <a:off x="10858229"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CUBE logo</a:t>
            </a:r>
            <a:endParaRPr lang="en-US" sz="830" dirty="0"/>
          </a:p>
        </p:txBody>
      </p:sp>
      <p:sp>
        <p:nvSpPr>
          <p:cNvPr id="4" name="Header bar"/>
          <p:cNvSpPr/>
          <p:nvPr/>
        </p:nvSpPr>
        <p:spPr>
          <a:xfrm>
            <a:off x="361941" y="1428714"/>
            <a:ext cx="11277318" cy="876278"/>
          </a:xfrm>
          <a:prstGeom prst="rect">
            <a:avLst/>
          </a:prstGeom>
          <a:solidFill>
            <a:srgbClr val="3E1370"/>
          </a:solidFill>
          <a:ln/>
        </p:spPr>
      </p:sp>
      <p:sp>
        <p:nvSpPr>
          <p:cNvPr id="5" name="Shape 3"/>
          <p:cNvSpPr/>
          <p:nvPr/>
        </p:nvSpPr>
        <p:spPr>
          <a:xfrm>
            <a:off x="361941" y="1428714"/>
            <a:ext cx="133347" cy="876278"/>
          </a:xfrm>
          <a:prstGeom prst="rect">
            <a:avLst/>
          </a:prstGeom>
          <a:solidFill>
            <a:srgbClr val="DFAE3E"/>
          </a:solidFill>
          <a:ln/>
        </p:spPr>
      </p:sp>
      <p:sp>
        <p:nvSpPr>
          <p:cNvPr id="6" name="Text 4"/>
          <p:cNvSpPr txBox="1"/>
          <p:nvPr/>
        </p:nvSpPr>
        <p:spPr>
          <a:xfrm>
            <a:off x="704832" y="1504912"/>
            <a:ext cx="10762981" cy="723882"/>
          </a:xfrm>
          <a:prstGeom prst="rect">
            <a:avLst/>
          </a:prstGeom>
          <a:noFill/>
          <a:ln/>
        </p:spPr>
        <p:txBody>
          <a:bodyPr wrap="square" lIns="0" tIns="0" rIns="0" bIns="0" rtlCol="0" anchor="ctr"/>
          <a:lstStyle/>
          <a:p>
            <a:pPr indent="0" marL="0">
              <a:spcAft>
                <a:spcPts val="300"/>
              </a:spcAft>
              <a:buNone/>
            </a:pPr>
            <a:r>
              <a:rPr lang="en-US" sz="1650" b="1" dirty="0">
                <a:solidFill>
                  <a:srgbClr val="DFAE3E"/>
                </a:solidFill>
              </a:rPr>
              <a:t>OUTREACH WORKFLOW</a:t>
            </a:r>
            <a:endParaRPr lang="en-US" sz="1650" dirty="0"/>
          </a:p>
          <a:p>
            <a:pPr indent="0" marL="0">
              <a:spcAft>
                <a:spcPts val="300"/>
              </a:spcAft>
              <a:buNone/>
            </a:pPr>
            <a:r>
              <a:rPr lang="en-US" sz="1950" b="1" dirty="0">
                <a:solidFill>
                  <a:srgbClr val="FFFFFF"/>
                </a:solidFill>
              </a:rPr>
              <a:t>From ranked list to a tailored message in four steps</a:t>
            </a:r>
            <a:endParaRPr lang="en-US" sz="1650" dirty="0"/>
          </a:p>
        </p:txBody>
      </p:sp>
      <p:sp>
        <p:nvSpPr>
          <p:cNvPr id="7" name="Takeaway"/>
          <p:cNvSpPr txBox="1"/>
          <p:nvPr/>
        </p:nvSpPr>
        <p:spPr>
          <a:xfrm>
            <a:off x="666733" y="5829154"/>
            <a:ext cx="10667733" cy="533387"/>
          </a:xfrm>
          <a:prstGeom prst="rect">
            <a:avLst/>
          </a:prstGeom>
          <a:noFill/>
          <a:ln w="19050">
            <a:solidFill>
              <a:srgbClr val="3E1370"/>
            </a:solidFill>
          </a:ln>
        </p:spPr>
        <p:txBody>
          <a:bodyPr wrap="square" rtlCol="0" anchor="ctr"/>
          <a:lstStyle/>
          <a:p>
            <a:pPr algn="ctr" indent="0" marL="0">
              <a:buNone/>
            </a:pPr>
            <a:r>
              <a:rPr lang="en-US" sz="1580" dirty="0">
                <a:solidFill>
                  <a:srgbClr val="330F60"/>
                </a:solidFill>
              </a:rPr>
              <a:t>Every message is grounded in a public signal, not a generic template.</a:t>
            </a:r>
            <a:endParaRPr lang="en-US" sz="1580" dirty="0"/>
          </a:p>
        </p:txBody>
      </p:sp>
      <p:sp>
        <p:nvSpPr>
          <p:cNvPr id="9" name="Shape 6"/>
          <p:cNvSpPr/>
          <p:nvPr/>
        </p:nvSpPr>
        <p:spPr>
          <a:xfrm>
            <a:off x="361941" y="2495488"/>
            <a:ext cx="2324042" cy="1562061"/>
          </a:xfrm>
          <a:prstGeom prst="rect">
            <a:avLst/>
          </a:prstGeom>
          <a:solidFill>
            <a:srgbClr val="AD8ED4"/>
          </a:solidFill>
          <a:ln/>
        </p:spPr>
      </p:sp>
      <p:sp>
        <p:nvSpPr>
          <p:cNvPr id="10" name="Shape 7"/>
          <p:cNvSpPr/>
          <p:nvPr/>
        </p:nvSpPr>
        <p:spPr>
          <a:xfrm>
            <a:off x="361941" y="2495488"/>
            <a:ext cx="2324042" cy="66673"/>
          </a:xfrm>
          <a:prstGeom prst="rect">
            <a:avLst/>
          </a:prstGeom>
          <a:solidFill>
            <a:srgbClr val="DFAE3E"/>
          </a:solidFill>
          <a:ln/>
        </p:spPr>
      </p:sp>
      <p:sp>
        <p:nvSpPr>
          <p:cNvPr id="11" name="Shape 8"/>
          <p:cNvSpPr/>
          <p:nvPr/>
        </p:nvSpPr>
        <p:spPr>
          <a:xfrm>
            <a:off x="514337" y="2666933"/>
            <a:ext cx="380990" cy="380990"/>
          </a:xfrm>
          <a:prstGeom prst="ellipse">
            <a:avLst/>
          </a:prstGeom>
          <a:solidFill>
            <a:srgbClr val="DFAE3E"/>
          </a:solidFill>
          <a:ln/>
        </p:spPr>
      </p:sp>
      <p:sp>
        <p:nvSpPr>
          <p:cNvPr id="12" name="Text 9"/>
          <p:cNvSpPr txBox="1"/>
          <p:nvPr/>
        </p:nvSpPr>
        <p:spPr>
          <a:xfrm>
            <a:off x="514337" y="2666933"/>
            <a:ext cx="380990" cy="380990"/>
          </a:xfrm>
          <a:prstGeom prst="rect">
            <a:avLst/>
          </a:prstGeom>
          <a:noFill/>
          <a:ln/>
        </p:spPr>
        <p:txBody>
          <a:bodyPr wrap="square" lIns="0" tIns="0" rIns="0" bIns="0" rtlCol="0" anchor="ctr"/>
          <a:lstStyle/>
          <a:p>
            <a:pPr algn="ctr" indent="0" marL="0">
              <a:buNone/>
            </a:pPr>
            <a:r>
              <a:rPr lang="en-US" sz="1200" b="1" dirty="0">
                <a:solidFill>
                  <a:srgbClr val="330F60"/>
                </a:solidFill>
              </a:rPr>
              <a:t>01</a:t>
            </a:r>
            <a:endParaRPr lang="en-US" sz="1200" dirty="0"/>
          </a:p>
        </p:txBody>
      </p:sp>
      <p:sp>
        <p:nvSpPr>
          <p:cNvPr id="13" name="Text 10"/>
          <p:cNvSpPr txBox="1"/>
          <p:nvPr/>
        </p:nvSpPr>
        <p:spPr>
          <a:xfrm>
            <a:off x="514337" y="3105072"/>
            <a:ext cx="2019250" cy="876278"/>
          </a:xfrm>
          <a:prstGeom prst="rect">
            <a:avLst/>
          </a:prstGeom>
          <a:noFill/>
          <a:ln/>
        </p:spPr>
        <p:txBody>
          <a:bodyPr wrap="square" lIns="0" tIns="0" rIns="0" bIns="0" rtlCol="0" anchor="t"/>
          <a:lstStyle/>
          <a:p>
            <a:pPr indent="0" marL="0">
              <a:spcAft>
                <a:spcPts val="400"/>
              </a:spcAft>
              <a:buNone/>
            </a:pPr>
            <a:r>
              <a:rPr lang="en-US" sz="1430" b="1" dirty="0">
                <a:solidFill>
                  <a:srgbClr val="330F60"/>
                </a:solidFill>
              </a:rPr>
              <a:t>Rank</a:t>
            </a:r>
            <a:endParaRPr lang="en-US" sz="1430" dirty="0"/>
          </a:p>
          <a:p>
            <a:pPr indent="0" marL="0">
              <a:spcAft>
                <a:spcPts val="400"/>
              </a:spcAft>
              <a:buNone/>
            </a:pPr>
            <a:r>
              <a:rPr lang="en-US" sz="1130" dirty="0">
                <a:solidFill>
                  <a:srgbClr val="330F60"/>
                </a:solidFill>
              </a:rPr>
              <a:t>Top-scored Qualified &amp; Maybe companies surface first.</a:t>
            </a:r>
            <a:endParaRPr lang="en-US" sz="1430" dirty="0"/>
          </a:p>
        </p:txBody>
      </p:sp>
      <p:sp>
        <p:nvSpPr>
          <p:cNvPr id="14" name="Shape 11"/>
          <p:cNvSpPr/>
          <p:nvPr/>
        </p:nvSpPr>
        <p:spPr>
          <a:xfrm>
            <a:off x="2800280" y="2495488"/>
            <a:ext cx="2324042" cy="1562061"/>
          </a:xfrm>
          <a:prstGeom prst="rect">
            <a:avLst/>
          </a:prstGeom>
          <a:solidFill>
            <a:srgbClr val="AD8ED4"/>
          </a:solidFill>
          <a:ln/>
        </p:spPr>
      </p:sp>
      <p:sp>
        <p:nvSpPr>
          <p:cNvPr id="15" name="Shape 12"/>
          <p:cNvSpPr/>
          <p:nvPr/>
        </p:nvSpPr>
        <p:spPr>
          <a:xfrm>
            <a:off x="2800280" y="2495488"/>
            <a:ext cx="2324042" cy="66673"/>
          </a:xfrm>
          <a:prstGeom prst="rect">
            <a:avLst/>
          </a:prstGeom>
          <a:solidFill>
            <a:srgbClr val="DFAE3E"/>
          </a:solidFill>
          <a:ln/>
        </p:spPr>
      </p:sp>
      <p:sp>
        <p:nvSpPr>
          <p:cNvPr id="16" name="Shape 13"/>
          <p:cNvSpPr/>
          <p:nvPr/>
        </p:nvSpPr>
        <p:spPr>
          <a:xfrm>
            <a:off x="2952676" y="2666933"/>
            <a:ext cx="380990" cy="380990"/>
          </a:xfrm>
          <a:prstGeom prst="ellipse">
            <a:avLst/>
          </a:prstGeom>
          <a:solidFill>
            <a:srgbClr val="DFAE3E"/>
          </a:solidFill>
          <a:ln/>
        </p:spPr>
      </p:sp>
      <p:sp>
        <p:nvSpPr>
          <p:cNvPr id="17" name="Text 14"/>
          <p:cNvSpPr txBox="1"/>
          <p:nvPr/>
        </p:nvSpPr>
        <p:spPr>
          <a:xfrm>
            <a:off x="2952676" y="2666933"/>
            <a:ext cx="380990" cy="380990"/>
          </a:xfrm>
          <a:prstGeom prst="rect">
            <a:avLst/>
          </a:prstGeom>
          <a:noFill/>
          <a:ln/>
        </p:spPr>
        <p:txBody>
          <a:bodyPr wrap="square" lIns="0" tIns="0" rIns="0" bIns="0" rtlCol="0" anchor="ctr"/>
          <a:lstStyle/>
          <a:p>
            <a:pPr algn="ctr" indent="0" marL="0">
              <a:buNone/>
            </a:pPr>
            <a:r>
              <a:rPr lang="en-US" sz="1200" b="1" dirty="0">
                <a:solidFill>
                  <a:srgbClr val="330F60"/>
                </a:solidFill>
              </a:rPr>
              <a:t>02</a:t>
            </a:r>
            <a:endParaRPr lang="en-US" sz="1200" dirty="0"/>
          </a:p>
        </p:txBody>
      </p:sp>
      <p:sp>
        <p:nvSpPr>
          <p:cNvPr id="18" name="Text 15"/>
          <p:cNvSpPr txBox="1"/>
          <p:nvPr/>
        </p:nvSpPr>
        <p:spPr>
          <a:xfrm>
            <a:off x="2952676" y="3105072"/>
            <a:ext cx="2019250" cy="876278"/>
          </a:xfrm>
          <a:prstGeom prst="rect">
            <a:avLst/>
          </a:prstGeom>
          <a:noFill/>
          <a:ln/>
        </p:spPr>
        <p:txBody>
          <a:bodyPr wrap="square" lIns="0" tIns="0" rIns="0" bIns="0" rtlCol="0" anchor="t"/>
          <a:lstStyle/>
          <a:p>
            <a:pPr indent="0" marL="0">
              <a:spcAft>
                <a:spcPts val="400"/>
              </a:spcAft>
              <a:buNone/>
            </a:pPr>
            <a:r>
              <a:rPr lang="en-US" sz="1430" b="1" dirty="0">
                <a:solidFill>
                  <a:srgbClr val="330F60"/>
                </a:solidFill>
              </a:rPr>
              <a:t>Find Buyers</a:t>
            </a:r>
            <a:endParaRPr lang="en-US" sz="1430" dirty="0"/>
          </a:p>
          <a:p>
            <a:pPr indent="0" marL="0">
              <a:spcAft>
                <a:spcPts val="400"/>
              </a:spcAft>
              <a:buNone/>
            </a:pPr>
            <a:r>
              <a:rPr lang="en-US" sz="1130" dirty="0">
                <a:solidFill>
                  <a:srgbClr val="330F60"/>
                </a:solidFill>
              </a:rPr>
              <a:t>HR leadership, HR systems &amp; IT contacts with verified email + LinkedIn.</a:t>
            </a:r>
            <a:endParaRPr lang="en-US" sz="1430" dirty="0"/>
          </a:p>
        </p:txBody>
      </p:sp>
      <p:sp>
        <p:nvSpPr>
          <p:cNvPr id="19" name="Shape 16"/>
          <p:cNvSpPr/>
          <p:nvPr/>
        </p:nvSpPr>
        <p:spPr>
          <a:xfrm>
            <a:off x="361941" y="4171846"/>
            <a:ext cx="2324042" cy="1562061"/>
          </a:xfrm>
          <a:prstGeom prst="rect">
            <a:avLst/>
          </a:prstGeom>
          <a:solidFill>
            <a:srgbClr val="AD8ED4"/>
          </a:solidFill>
          <a:ln/>
        </p:spPr>
      </p:sp>
      <p:sp>
        <p:nvSpPr>
          <p:cNvPr id="20" name="Shape 17"/>
          <p:cNvSpPr/>
          <p:nvPr/>
        </p:nvSpPr>
        <p:spPr>
          <a:xfrm>
            <a:off x="361941" y="4171846"/>
            <a:ext cx="2324042" cy="66673"/>
          </a:xfrm>
          <a:prstGeom prst="rect">
            <a:avLst/>
          </a:prstGeom>
          <a:solidFill>
            <a:srgbClr val="DFAE3E"/>
          </a:solidFill>
          <a:ln/>
        </p:spPr>
      </p:sp>
      <p:sp>
        <p:nvSpPr>
          <p:cNvPr id="21" name="Shape 18"/>
          <p:cNvSpPr/>
          <p:nvPr/>
        </p:nvSpPr>
        <p:spPr>
          <a:xfrm>
            <a:off x="514337" y="4343291"/>
            <a:ext cx="380990" cy="380990"/>
          </a:xfrm>
          <a:prstGeom prst="ellipse">
            <a:avLst/>
          </a:prstGeom>
          <a:solidFill>
            <a:srgbClr val="DFAE3E"/>
          </a:solidFill>
          <a:ln/>
        </p:spPr>
      </p:sp>
      <p:sp>
        <p:nvSpPr>
          <p:cNvPr id="22" name="Text 19"/>
          <p:cNvSpPr txBox="1"/>
          <p:nvPr/>
        </p:nvSpPr>
        <p:spPr>
          <a:xfrm>
            <a:off x="514337" y="4343291"/>
            <a:ext cx="380990" cy="380990"/>
          </a:xfrm>
          <a:prstGeom prst="rect">
            <a:avLst/>
          </a:prstGeom>
          <a:noFill/>
          <a:ln/>
        </p:spPr>
        <p:txBody>
          <a:bodyPr wrap="square" lIns="0" tIns="0" rIns="0" bIns="0" rtlCol="0" anchor="ctr"/>
          <a:lstStyle/>
          <a:p>
            <a:pPr algn="ctr" indent="0" marL="0">
              <a:buNone/>
            </a:pPr>
            <a:r>
              <a:rPr lang="en-US" sz="1200" b="1" dirty="0">
                <a:solidFill>
                  <a:srgbClr val="330F60"/>
                </a:solidFill>
              </a:rPr>
              <a:t>03</a:t>
            </a:r>
            <a:endParaRPr lang="en-US" sz="1200" dirty="0"/>
          </a:p>
        </p:txBody>
      </p:sp>
      <p:sp>
        <p:nvSpPr>
          <p:cNvPr id="23" name="Text 20"/>
          <p:cNvSpPr txBox="1"/>
          <p:nvPr/>
        </p:nvSpPr>
        <p:spPr>
          <a:xfrm>
            <a:off x="514337" y="4781430"/>
            <a:ext cx="2019250" cy="876278"/>
          </a:xfrm>
          <a:prstGeom prst="rect">
            <a:avLst/>
          </a:prstGeom>
          <a:noFill/>
          <a:ln/>
        </p:spPr>
        <p:txBody>
          <a:bodyPr wrap="square" lIns="0" tIns="0" rIns="0" bIns="0" rtlCol="0" anchor="t"/>
          <a:lstStyle/>
          <a:p>
            <a:pPr indent="0" marL="0">
              <a:spcAft>
                <a:spcPts val="400"/>
              </a:spcAft>
              <a:buNone/>
            </a:pPr>
            <a:r>
              <a:rPr lang="en-US" sz="1430" b="1" dirty="0">
                <a:solidFill>
                  <a:srgbClr val="330F60"/>
                </a:solidFill>
              </a:rPr>
              <a:t>Draft</a:t>
            </a:r>
            <a:endParaRPr lang="en-US" sz="1430" dirty="0"/>
          </a:p>
          <a:p>
            <a:pPr indent="0" marL="0">
              <a:spcAft>
                <a:spcPts val="400"/>
              </a:spcAft>
              <a:buNone/>
            </a:pPr>
            <a:r>
              <a:rPr lang="en-US" sz="1130" dirty="0">
                <a:solidFill>
                  <a:srgbClr val="330F60"/>
                </a:solidFill>
              </a:rPr>
              <a:t>AI drafts an email + LinkedIn note using the right angle: go-live, hiring, release or general.</a:t>
            </a:r>
            <a:endParaRPr lang="en-US" sz="1430" dirty="0"/>
          </a:p>
        </p:txBody>
      </p:sp>
      <p:sp>
        <p:nvSpPr>
          <p:cNvPr id="24" name="Shape 21"/>
          <p:cNvSpPr/>
          <p:nvPr/>
        </p:nvSpPr>
        <p:spPr>
          <a:xfrm>
            <a:off x="2800280" y="4171846"/>
            <a:ext cx="2324042" cy="1562061"/>
          </a:xfrm>
          <a:prstGeom prst="rect">
            <a:avLst/>
          </a:prstGeom>
          <a:solidFill>
            <a:srgbClr val="AD8ED4"/>
          </a:solidFill>
          <a:ln/>
        </p:spPr>
      </p:sp>
      <p:sp>
        <p:nvSpPr>
          <p:cNvPr id="25" name="Shape 22"/>
          <p:cNvSpPr/>
          <p:nvPr/>
        </p:nvSpPr>
        <p:spPr>
          <a:xfrm>
            <a:off x="2800280" y="4171846"/>
            <a:ext cx="2324042" cy="66673"/>
          </a:xfrm>
          <a:prstGeom prst="rect">
            <a:avLst/>
          </a:prstGeom>
          <a:solidFill>
            <a:srgbClr val="DFAE3E"/>
          </a:solidFill>
          <a:ln/>
        </p:spPr>
      </p:sp>
      <p:sp>
        <p:nvSpPr>
          <p:cNvPr id="26" name="Shape 23"/>
          <p:cNvSpPr/>
          <p:nvPr/>
        </p:nvSpPr>
        <p:spPr>
          <a:xfrm>
            <a:off x="2952676" y="4343291"/>
            <a:ext cx="380990" cy="380990"/>
          </a:xfrm>
          <a:prstGeom prst="ellipse">
            <a:avLst/>
          </a:prstGeom>
          <a:solidFill>
            <a:srgbClr val="DFAE3E"/>
          </a:solidFill>
          <a:ln/>
        </p:spPr>
      </p:sp>
      <p:sp>
        <p:nvSpPr>
          <p:cNvPr id="27" name="Text 24"/>
          <p:cNvSpPr txBox="1"/>
          <p:nvPr/>
        </p:nvSpPr>
        <p:spPr>
          <a:xfrm>
            <a:off x="2952676" y="4343291"/>
            <a:ext cx="380990" cy="380990"/>
          </a:xfrm>
          <a:prstGeom prst="rect">
            <a:avLst/>
          </a:prstGeom>
          <a:noFill/>
          <a:ln/>
        </p:spPr>
        <p:txBody>
          <a:bodyPr wrap="square" lIns="0" tIns="0" rIns="0" bIns="0" rtlCol="0" anchor="ctr"/>
          <a:lstStyle/>
          <a:p>
            <a:pPr algn="ctr" indent="0" marL="0">
              <a:buNone/>
            </a:pPr>
            <a:r>
              <a:rPr lang="en-US" sz="1200" b="1" dirty="0">
                <a:solidFill>
                  <a:srgbClr val="330F60"/>
                </a:solidFill>
              </a:rPr>
              <a:t>04</a:t>
            </a:r>
            <a:endParaRPr lang="en-US" sz="1200" dirty="0"/>
          </a:p>
        </p:txBody>
      </p:sp>
      <p:sp>
        <p:nvSpPr>
          <p:cNvPr id="28" name="Text 25"/>
          <p:cNvSpPr txBox="1"/>
          <p:nvPr/>
        </p:nvSpPr>
        <p:spPr>
          <a:xfrm>
            <a:off x="2952676" y="4781430"/>
            <a:ext cx="2019250" cy="876278"/>
          </a:xfrm>
          <a:prstGeom prst="rect">
            <a:avLst/>
          </a:prstGeom>
          <a:noFill/>
          <a:ln/>
        </p:spPr>
        <p:txBody>
          <a:bodyPr wrap="square" lIns="0" tIns="0" rIns="0" bIns="0" rtlCol="0" anchor="t"/>
          <a:lstStyle/>
          <a:p>
            <a:pPr indent="0" marL="0">
              <a:spcAft>
                <a:spcPts val="400"/>
              </a:spcAft>
              <a:buNone/>
            </a:pPr>
            <a:r>
              <a:rPr lang="en-US" sz="1430" b="1" dirty="0">
                <a:solidFill>
                  <a:srgbClr val="330F60"/>
                </a:solidFill>
              </a:rPr>
              <a:t>Send &amp; Track</a:t>
            </a:r>
            <a:endParaRPr lang="en-US" sz="1430" dirty="0"/>
          </a:p>
          <a:p>
            <a:pPr indent="0" marL="0">
              <a:spcAft>
                <a:spcPts val="400"/>
              </a:spcAft>
              <a:buNone/>
            </a:pPr>
            <a:r>
              <a:rPr lang="en-US" sz="1130" dirty="0">
                <a:solidFill>
                  <a:srgbClr val="330F60"/>
                </a:solidFill>
              </a:rPr>
              <a:t>Sending a draft marks the lead Contacted automatically.</a:t>
            </a:r>
            <a:endParaRPr lang="en-US" sz="1430" dirty="0"/>
          </a:p>
        </p:txBody>
      </p:sp>
      <p:pic>
        <p:nvPicPr>
          <p:cNvPr id="29" name="07_screenshot_email_customization.png" descr="/tmp/claude-0/s/deck/c_07_screenshot_email_customization.png">    </p:cNvPr>
          <p:cNvPicPr>
            <a:picLocks noChangeAspect="1"/>
          </p:cNvPicPr>
          <p:nvPr/>
        </p:nvPicPr>
        <p:blipFill>
          <a:blip r:embed="rId1"/>
          <a:stretch>
            <a:fillRect/>
          </a:stretch>
        </p:blipFill>
        <p:spPr>
          <a:xfrm>
            <a:off x="5333867" y="2495488"/>
            <a:ext cx="6305392" cy="2374416"/>
          </a:xfrm>
          <a:prstGeom prst="rect">
            <a:avLst/>
          </a:prstGeom>
        </p:spPr>
      </p:pic>
      <p:sp>
        <p:nvSpPr>
          <p:cNvPr id="30" name="Text 26"/>
          <p:cNvSpPr txBox="1"/>
          <p:nvPr/>
        </p:nvSpPr>
        <p:spPr>
          <a:xfrm>
            <a:off x="5333867" y="4908002"/>
            <a:ext cx="6305392" cy="190495"/>
          </a:xfrm>
          <a:prstGeom prst="rect">
            <a:avLst/>
          </a:prstGeom>
          <a:noFill/>
          <a:ln/>
        </p:spPr>
        <p:txBody>
          <a:bodyPr wrap="square" lIns="0" tIns="0" rIns="0" bIns="0" rtlCol="0" anchor="ctr"/>
          <a:lstStyle/>
          <a:p>
            <a:pPr indent="0" marL="0">
              <a:buNone/>
            </a:pPr>
            <a:r>
              <a:rPr lang="en-US" sz="980" i="1" dirty="0">
                <a:solidFill>
                  <a:srgbClr val="6A5A85"/>
                </a:solidFill>
              </a:rPr>
              <a:t>Email customization page: the pitch for each situation</a:t>
            </a:r>
            <a:endParaRPr lang="en-US" sz="980" dirty="0"/>
          </a:p>
        </p:txBody>
      </p:sp>
      <p:sp>
        <p:nvSpPr>
          <p:cNvPr id="25" name="Slide Number Placeholder 0"/>
          <p:cNvSpPr>
            <a:spLocks noGrp="1"/>
          </p:cNvSpPr>
          <p:nvPr>
            <p:ph type="sldNum" sz="quarter" idx="4294967295"/>
          </p:nvPr>
        </p:nvSpPr>
        <p:spPr>
          <a:xfrm>
            <a:off x="11239219" y="6591135"/>
            <a:ext cx="380990" cy="190495"/>
          </a:xfrm>
          <a:prstGeom prst="rect">
            <a:avLst/>
          </a:prstGeom>
          <a:extLst>
            <a:ext uri="{C572A759-6A51-4108-AA02-DFA0A04FC94B}">
              <ma14:wrappingTextBoxFlag xmlns:ma14="http://schemas.microsoft.com/office/mac/drawingml/2011/main" val="0"/>
            </a:ext>
          </a:extLst>
        </p:spPr>
        <p:txBody>
          <a:bodyPr/>
          <a:lstStyle>
            <a:lvl1pPr>
              <a:defRPr sz="980">
                <a:solidFill>
                  <a:srgbClr val="330F60"/>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Mando logo"/>
          <p:cNvSpPr txBox="1"/>
          <p:nvPr/>
        </p:nvSpPr>
        <p:spPr>
          <a:xfrm>
            <a:off x="10001000"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Mando logo</a:t>
            </a:r>
            <a:endParaRPr lang="en-US" sz="830" dirty="0"/>
          </a:p>
        </p:txBody>
      </p:sp>
      <p:sp>
        <p:nvSpPr>
          <p:cNvPr id="3" name="CUBE logo"/>
          <p:cNvSpPr txBox="1"/>
          <p:nvPr/>
        </p:nvSpPr>
        <p:spPr>
          <a:xfrm>
            <a:off x="10858229"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CUBE logo</a:t>
            </a:r>
            <a:endParaRPr lang="en-US" sz="830" dirty="0"/>
          </a:p>
        </p:txBody>
      </p:sp>
      <p:sp>
        <p:nvSpPr>
          <p:cNvPr id="4" name="Header bar"/>
          <p:cNvSpPr/>
          <p:nvPr/>
        </p:nvSpPr>
        <p:spPr>
          <a:xfrm>
            <a:off x="361941" y="1428714"/>
            <a:ext cx="11277318" cy="876278"/>
          </a:xfrm>
          <a:prstGeom prst="rect">
            <a:avLst/>
          </a:prstGeom>
          <a:solidFill>
            <a:srgbClr val="3E1370"/>
          </a:solidFill>
          <a:ln/>
        </p:spPr>
      </p:sp>
      <p:sp>
        <p:nvSpPr>
          <p:cNvPr id="5" name="Shape 3"/>
          <p:cNvSpPr/>
          <p:nvPr/>
        </p:nvSpPr>
        <p:spPr>
          <a:xfrm>
            <a:off x="361941" y="1428714"/>
            <a:ext cx="133347" cy="876278"/>
          </a:xfrm>
          <a:prstGeom prst="rect">
            <a:avLst/>
          </a:prstGeom>
          <a:solidFill>
            <a:srgbClr val="DFAE3E"/>
          </a:solidFill>
          <a:ln/>
        </p:spPr>
      </p:sp>
      <p:sp>
        <p:nvSpPr>
          <p:cNvPr id="6" name="Text 4"/>
          <p:cNvSpPr txBox="1"/>
          <p:nvPr/>
        </p:nvSpPr>
        <p:spPr>
          <a:xfrm>
            <a:off x="704832" y="1504912"/>
            <a:ext cx="10762981" cy="723882"/>
          </a:xfrm>
          <a:prstGeom prst="rect">
            <a:avLst/>
          </a:prstGeom>
          <a:noFill/>
          <a:ln/>
        </p:spPr>
        <p:txBody>
          <a:bodyPr wrap="square" lIns="0" tIns="0" rIns="0" bIns="0" rtlCol="0" anchor="ctr"/>
          <a:lstStyle/>
          <a:p>
            <a:pPr indent="0" marL="0">
              <a:spcAft>
                <a:spcPts val="300"/>
              </a:spcAft>
              <a:buNone/>
            </a:pPr>
            <a:r>
              <a:rPr lang="en-US" sz="1650" b="1" dirty="0">
                <a:solidFill>
                  <a:srgbClr val="DFAE3E"/>
                </a:solidFill>
              </a:rPr>
              <a:t>LEAD STATUS</a:t>
            </a:r>
            <a:endParaRPr lang="en-US" sz="1650" dirty="0"/>
          </a:p>
          <a:p>
            <a:pPr indent="0" marL="0">
              <a:spcAft>
                <a:spcPts val="300"/>
              </a:spcAft>
              <a:buNone/>
            </a:pPr>
            <a:r>
              <a:rPr lang="en-US" sz="1950" b="1" dirty="0">
                <a:solidFill>
                  <a:srgbClr val="FFFFFF"/>
                </a:solidFill>
              </a:rPr>
              <a:t>Every lead has a stage, and every stage has a timestamp</a:t>
            </a:r>
            <a:endParaRPr lang="en-US" sz="1650" dirty="0"/>
          </a:p>
        </p:txBody>
      </p:sp>
      <p:sp>
        <p:nvSpPr>
          <p:cNvPr id="7" name="Takeaway"/>
          <p:cNvSpPr txBox="1"/>
          <p:nvPr/>
        </p:nvSpPr>
        <p:spPr>
          <a:xfrm>
            <a:off x="666733" y="5829154"/>
            <a:ext cx="10667733" cy="533387"/>
          </a:xfrm>
          <a:prstGeom prst="rect">
            <a:avLst/>
          </a:prstGeom>
          <a:noFill/>
          <a:ln w="19050">
            <a:solidFill>
              <a:srgbClr val="3E1370"/>
            </a:solidFill>
          </a:ln>
        </p:spPr>
        <p:txBody>
          <a:bodyPr wrap="square" rtlCol="0" anchor="ctr"/>
          <a:lstStyle/>
          <a:p>
            <a:pPr algn="ctr" indent="0" marL="0">
              <a:buNone/>
            </a:pPr>
            <a:r>
              <a:rPr lang="en-US" sz="1580" dirty="0">
                <a:solidFill>
                  <a:srgbClr val="330F60"/>
                </a:solidFill>
              </a:rPr>
              <a:t>We can see exactly where each lead stalls and follow up.</a:t>
            </a:r>
            <a:endParaRPr lang="en-US" sz="1580" dirty="0"/>
          </a:p>
        </p:txBody>
      </p:sp>
      <p:sp>
        <p:nvSpPr>
          <p:cNvPr id="9" name="Stage Queued"/>
          <p:cNvSpPr/>
          <p:nvPr/>
        </p:nvSpPr>
        <p:spPr>
          <a:xfrm>
            <a:off x="361941" y="2495488"/>
            <a:ext cx="2790755" cy="533387"/>
          </a:xfrm>
          <a:prstGeom prst="homePlate">
            <a:avLst/>
          </a:prstGeom>
          <a:solidFill>
            <a:srgbClr val="FFFFFF"/>
          </a:solidFill>
          <a:ln w="25400">
            <a:solidFill>
              <a:srgbClr val="3E1370"/>
            </a:solidFill>
          </a:ln>
        </p:spPr>
        <p:txBody>
          <a:bodyPr wrap="square" rtlCol="0" anchor="ctr"/>
          <a:lstStyle/>
          <a:p>
            <a:pPr algn="ctr" indent="0" marL="0">
              <a:buNone/>
            </a:pPr>
            <a:r>
              <a:rPr lang="en-US" sz="1500" b="1" dirty="0">
                <a:solidFill>
                  <a:srgbClr val="330F60"/>
                </a:solidFill>
              </a:rPr>
              <a:t>Queued</a:t>
            </a:r>
            <a:endParaRPr lang="en-US" sz="1500" dirty="0"/>
          </a:p>
        </p:txBody>
      </p:sp>
      <p:sp>
        <p:nvSpPr>
          <p:cNvPr id="10" name="Text 7"/>
          <p:cNvSpPr txBox="1"/>
          <p:nvPr/>
        </p:nvSpPr>
        <p:spPr>
          <a:xfrm>
            <a:off x="1090585" y="3086023"/>
            <a:ext cx="1333467" cy="209545"/>
          </a:xfrm>
          <a:prstGeom prst="rect">
            <a:avLst/>
          </a:prstGeom>
          <a:solidFill>
            <a:srgbClr val="DFAE3E"/>
          </a:solidFill>
          <a:ln/>
        </p:spPr>
        <p:txBody>
          <a:bodyPr wrap="square" lIns="0" tIns="0" rIns="0" bIns="0" rtlCol="0" anchor="ctr"/>
          <a:lstStyle/>
          <a:p>
            <a:pPr algn="ctr" indent="0" marL="0">
              <a:buNone/>
            </a:pPr>
            <a:r>
              <a:rPr lang="en-US" sz="980" dirty="0">
                <a:solidFill>
                  <a:srgbClr val="330F60"/>
                </a:solidFill>
                <a:latin typeface="Courier New" pitchFamily="34" charset="0"/>
                <a:ea typeface="Courier New" pitchFamily="34" charset="-122"/>
                <a:cs typeface="Courier New" pitchFamily="34" charset="-120"/>
              </a:rPr>
              <a:t>default</a:t>
            </a:r>
            <a:endParaRPr lang="en-US" sz="980" dirty="0"/>
          </a:p>
        </p:txBody>
      </p:sp>
      <p:sp>
        <p:nvSpPr>
          <p:cNvPr id="11" name="Stage Contacted"/>
          <p:cNvSpPr/>
          <p:nvPr/>
        </p:nvSpPr>
        <p:spPr>
          <a:xfrm>
            <a:off x="3190795" y="2495488"/>
            <a:ext cx="2790755" cy="533387"/>
          </a:xfrm>
          <a:prstGeom prst="chevron">
            <a:avLst/>
          </a:prstGeom>
          <a:solidFill>
            <a:srgbClr val="3E1370"/>
          </a:solidFill>
          <a:ln w="25400">
            <a:solidFill>
              <a:srgbClr val="3E1370"/>
            </a:solidFill>
          </a:ln>
        </p:spPr>
        <p:txBody>
          <a:bodyPr wrap="square" rtlCol="0" anchor="ctr"/>
          <a:lstStyle/>
          <a:p>
            <a:pPr algn="ctr" indent="0" marL="0">
              <a:buNone/>
            </a:pPr>
            <a:r>
              <a:rPr lang="en-US" sz="1500" b="1" dirty="0">
                <a:solidFill>
                  <a:srgbClr val="FFFFFF"/>
                </a:solidFill>
              </a:rPr>
              <a:t>Contacted</a:t>
            </a:r>
            <a:endParaRPr lang="en-US" sz="1500" dirty="0"/>
          </a:p>
        </p:txBody>
      </p:sp>
      <p:sp>
        <p:nvSpPr>
          <p:cNvPr id="12" name="Text 9"/>
          <p:cNvSpPr txBox="1"/>
          <p:nvPr/>
        </p:nvSpPr>
        <p:spPr>
          <a:xfrm>
            <a:off x="3919440" y="3086023"/>
            <a:ext cx="1333467" cy="209545"/>
          </a:xfrm>
          <a:prstGeom prst="rect">
            <a:avLst/>
          </a:prstGeom>
          <a:solidFill>
            <a:srgbClr val="DFAE3E"/>
          </a:solidFill>
          <a:ln/>
        </p:spPr>
        <p:txBody>
          <a:bodyPr wrap="square" lIns="0" tIns="0" rIns="0" bIns="0" rtlCol="0" anchor="ctr"/>
          <a:lstStyle/>
          <a:p>
            <a:pPr algn="ctr" indent="0" marL="0">
              <a:buNone/>
            </a:pPr>
            <a:r>
              <a:rPr lang="en-US" sz="980" dirty="0">
                <a:solidFill>
                  <a:srgbClr val="330F60"/>
                </a:solidFill>
                <a:latin typeface="Courier New" pitchFamily="34" charset="0"/>
                <a:ea typeface="Courier New" pitchFamily="34" charset="-122"/>
                <a:cs typeface="Courier New" pitchFamily="34" charset="-120"/>
              </a:rPr>
              <a:t>contacted_at</a:t>
            </a:r>
            <a:endParaRPr lang="en-US" sz="980" dirty="0"/>
          </a:p>
        </p:txBody>
      </p:sp>
      <p:sp>
        <p:nvSpPr>
          <p:cNvPr id="13" name="Stage Replied"/>
          <p:cNvSpPr/>
          <p:nvPr/>
        </p:nvSpPr>
        <p:spPr>
          <a:xfrm>
            <a:off x="6019650" y="2495488"/>
            <a:ext cx="2790755" cy="533387"/>
          </a:xfrm>
          <a:prstGeom prst="chevron">
            <a:avLst/>
          </a:prstGeom>
          <a:solidFill>
            <a:srgbClr val="3E1370"/>
          </a:solidFill>
          <a:ln w="25400">
            <a:solidFill>
              <a:srgbClr val="3E1370"/>
            </a:solidFill>
          </a:ln>
        </p:spPr>
        <p:txBody>
          <a:bodyPr wrap="square" rtlCol="0" anchor="ctr"/>
          <a:lstStyle/>
          <a:p>
            <a:pPr algn="ctr" indent="0" marL="0">
              <a:buNone/>
            </a:pPr>
            <a:r>
              <a:rPr lang="en-US" sz="1500" b="1" dirty="0">
                <a:solidFill>
                  <a:srgbClr val="FFFFFF"/>
                </a:solidFill>
              </a:rPr>
              <a:t>Replied</a:t>
            </a:r>
            <a:endParaRPr lang="en-US" sz="1500" dirty="0"/>
          </a:p>
        </p:txBody>
      </p:sp>
      <p:sp>
        <p:nvSpPr>
          <p:cNvPr id="14" name="Text 11"/>
          <p:cNvSpPr txBox="1"/>
          <p:nvPr/>
        </p:nvSpPr>
        <p:spPr>
          <a:xfrm>
            <a:off x="6748294" y="3086023"/>
            <a:ext cx="1333467" cy="209545"/>
          </a:xfrm>
          <a:prstGeom prst="rect">
            <a:avLst/>
          </a:prstGeom>
          <a:solidFill>
            <a:srgbClr val="DFAE3E"/>
          </a:solidFill>
          <a:ln/>
        </p:spPr>
        <p:txBody>
          <a:bodyPr wrap="square" lIns="0" tIns="0" rIns="0" bIns="0" rtlCol="0" anchor="ctr"/>
          <a:lstStyle/>
          <a:p>
            <a:pPr algn="ctr" indent="0" marL="0">
              <a:buNone/>
            </a:pPr>
            <a:r>
              <a:rPr lang="en-US" sz="980" dirty="0">
                <a:solidFill>
                  <a:srgbClr val="330F60"/>
                </a:solidFill>
                <a:latin typeface="Courier New" pitchFamily="34" charset="0"/>
                <a:ea typeface="Courier New" pitchFamily="34" charset="-122"/>
                <a:cs typeface="Courier New" pitchFamily="34" charset="-120"/>
              </a:rPr>
              <a:t>replied_at</a:t>
            </a:r>
            <a:endParaRPr lang="en-US" sz="980" dirty="0"/>
          </a:p>
        </p:txBody>
      </p:sp>
      <p:sp>
        <p:nvSpPr>
          <p:cNvPr id="15" name="Stage Demo Booked"/>
          <p:cNvSpPr/>
          <p:nvPr/>
        </p:nvSpPr>
        <p:spPr>
          <a:xfrm>
            <a:off x="8848504" y="2495488"/>
            <a:ext cx="2790755" cy="533387"/>
          </a:xfrm>
          <a:prstGeom prst="chevron">
            <a:avLst/>
          </a:prstGeom>
          <a:solidFill>
            <a:srgbClr val="3E1370"/>
          </a:solidFill>
          <a:ln w="25400">
            <a:solidFill>
              <a:srgbClr val="3E1370"/>
            </a:solidFill>
          </a:ln>
        </p:spPr>
        <p:txBody>
          <a:bodyPr wrap="square" rtlCol="0" anchor="ctr"/>
          <a:lstStyle/>
          <a:p>
            <a:pPr algn="ctr" indent="0" marL="0">
              <a:buNone/>
            </a:pPr>
            <a:r>
              <a:rPr lang="en-US" sz="1500" b="1" dirty="0">
                <a:solidFill>
                  <a:srgbClr val="FFFFFF"/>
                </a:solidFill>
              </a:rPr>
              <a:t>Demo Booked</a:t>
            </a:r>
            <a:endParaRPr lang="en-US" sz="1500" dirty="0"/>
          </a:p>
        </p:txBody>
      </p:sp>
      <p:sp>
        <p:nvSpPr>
          <p:cNvPr id="16" name="Text 13"/>
          <p:cNvSpPr txBox="1"/>
          <p:nvPr/>
        </p:nvSpPr>
        <p:spPr>
          <a:xfrm>
            <a:off x="9577148" y="3086023"/>
            <a:ext cx="1333467" cy="209545"/>
          </a:xfrm>
          <a:prstGeom prst="rect">
            <a:avLst/>
          </a:prstGeom>
          <a:solidFill>
            <a:srgbClr val="DFAE3E"/>
          </a:solidFill>
          <a:ln/>
        </p:spPr>
        <p:txBody>
          <a:bodyPr wrap="square" lIns="0" tIns="0" rIns="0" bIns="0" rtlCol="0" anchor="ctr"/>
          <a:lstStyle/>
          <a:p>
            <a:pPr algn="ctr" indent="0" marL="0">
              <a:buNone/>
            </a:pPr>
            <a:r>
              <a:rPr lang="en-US" sz="980" dirty="0">
                <a:solidFill>
                  <a:srgbClr val="330F60"/>
                </a:solidFill>
                <a:latin typeface="Courier New" pitchFamily="34" charset="0"/>
                <a:ea typeface="Courier New" pitchFamily="34" charset="-122"/>
                <a:cs typeface="Courier New" pitchFamily="34" charset="-120"/>
              </a:rPr>
              <a:t>demo_booked_at</a:t>
            </a:r>
            <a:endParaRPr lang="en-US" sz="980" dirty="0"/>
          </a:p>
        </p:txBody>
      </p:sp>
      <p:pic>
        <p:nvPicPr>
          <p:cNvPr id="17" name="05_screenshot_contact_record.png" descr="/tmp/claude-0/s/deck/c_05_screenshot_contact_record.png">    </p:cNvPr>
          <p:cNvPicPr>
            <a:picLocks noChangeAspect="1"/>
          </p:cNvPicPr>
          <p:nvPr/>
        </p:nvPicPr>
        <p:blipFill>
          <a:blip r:embed="rId1"/>
          <a:stretch>
            <a:fillRect/>
          </a:stretch>
        </p:blipFill>
        <p:spPr>
          <a:xfrm>
            <a:off x="361941" y="3447964"/>
            <a:ext cx="5333867" cy="1962101"/>
          </a:xfrm>
          <a:prstGeom prst="rect">
            <a:avLst/>
          </a:prstGeom>
        </p:spPr>
      </p:pic>
      <p:sp>
        <p:nvSpPr>
          <p:cNvPr id="18" name="Text 14"/>
          <p:cNvSpPr txBox="1"/>
          <p:nvPr/>
        </p:nvSpPr>
        <p:spPr>
          <a:xfrm>
            <a:off x="361941" y="5448164"/>
            <a:ext cx="5333867" cy="190495"/>
          </a:xfrm>
          <a:prstGeom prst="rect">
            <a:avLst/>
          </a:prstGeom>
          <a:noFill/>
          <a:ln/>
        </p:spPr>
        <p:txBody>
          <a:bodyPr wrap="square" lIns="0" tIns="0" rIns="0" bIns="0" rtlCol="0" anchor="ctr"/>
          <a:lstStyle/>
          <a:p>
            <a:pPr indent="0" marL="0">
              <a:buNone/>
            </a:pPr>
            <a:r>
              <a:rPr lang="en-US" sz="980" i="1" dirty="0">
                <a:solidFill>
                  <a:srgbClr val="6A5A85"/>
                </a:solidFill>
              </a:rPr>
              <a:t>Company record: status shown on every contact</a:t>
            </a:r>
            <a:endParaRPr lang="en-US" sz="980" dirty="0"/>
          </a:p>
        </p:txBody>
      </p:sp>
      <p:sp>
        <p:nvSpPr>
          <p:cNvPr id="19" name="Shape 15"/>
          <p:cNvSpPr/>
          <p:nvPr/>
        </p:nvSpPr>
        <p:spPr>
          <a:xfrm>
            <a:off x="6000600" y="3600360"/>
            <a:ext cx="104772" cy="104772"/>
          </a:xfrm>
          <a:prstGeom prst="rect">
            <a:avLst/>
          </a:prstGeom>
          <a:solidFill>
            <a:srgbClr val="DFAE3E"/>
          </a:solidFill>
          <a:ln/>
        </p:spPr>
      </p:sp>
      <p:sp>
        <p:nvSpPr>
          <p:cNvPr id="20" name="Text 16"/>
          <p:cNvSpPr txBox="1"/>
          <p:nvPr/>
        </p:nvSpPr>
        <p:spPr>
          <a:xfrm>
            <a:off x="6210145" y="3543211"/>
            <a:ext cx="5429114" cy="571486"/>
          </a:xfrm>
          <a:prstGeom prst="rect">
            <a:avLst/>
          </a:prstGeom>
          <a:noFill/>
          <a:ln/>
        </p:spPr>
        <p:txBody>
          <a:bodyPr wrap="square" lIns="0" tIns="0" rIns="0" bIns="0" rtlCol="0" anchor="t"/>
          <a:lstStyle/>
          <a:p>
            <a:pPr indent="0" marL="0">
              <a:buNone/>
            </a:pPr>
            <a:r>
              <a:rPr lang="en-US" sz="1280" b="1" dirty="0">
                <a:solidFill>
                  <a:srgbClr val="330F60"/>
                </a:solidFill>
              </a:rPr>
              <a:t>Timestamps</a:t>
            </a:r>
            <a:pPr indent="0" marL="0">
              <a:buNone/>
            </a:pPr>
            <a:r>
              <a:rPr lang="en-US" sz="1280" dirty="0">
                <a:solidFill>
                  <a:srgbClr val="330F60"/>
                </a:solidFill>
              </a:rPr>
              <a:t> on each stage let us measure reply rate and time-to-demo.</a:t>
            </a:r>
            <a:endParaRPr lang="en-US" sz="1280" dirty="0"/>
          </a:p>
        </p:txBody>
      </p:sp>
      <p:sp>
        <p:nvSpPr>
          <p:cNvPr id="21" name="Shape 17"/>
          <p:cNvSpPr/>
          <p:nvPr/>
        </p:nvSpPr>
        <p:spPr>
          <a:xfrm>
            <a:off x="6000600" y="4190895"/>
            <a:ext cx="104772" cy="104772"/>
          </a:xfrm>
          <a:prstGeom prst="rect">
            <a:avLst/>
          </a:prstGeom>
          <a:solidFill>
            <a:srgbClr val="DFAE3E"/>
          </a:solidFill>
          <a:ln/>
        </p:spPr>
      </p:sp>
      <p:sp>
        <p:nvSpPr>
          <p:cNvPr id="22" name="Text 18"/>
          <p:cNvSpPr txBox="1"/>
          <p:nvPr/>
        </p:nvSpPr>
        <p:spPr>
          <a:xfrm>
            <a:off x="6210145" y="4133747"/>
            <a:ext cx="5429114" cy="571486"/>
          </a:xfrm>
          <a:prstGeom prst="rect">
            <a:avLst/>
          </a:prstGeom>
          <a:noFill/>
          <a:ln/>
        </p:spPr>
        <p:txBody>
          <a:bodyPr wrap="square" lIns="0" tIns="0" rIns="0" bIns="0" rtlCol="0" anchor="t"/>
          <a:lstStyle/>
          <a:p>
            <a:pPr indent="0" marL="0">
              <a:buNone/>
            </a:pPr>
            <a:r>
              <a:rPr lang="en-US" sz="1280" b="1" dirty="0">
                <a:solidFill>
                  <a:srgbClr val="330F60"/>
                </a:solidFill>
              </a:rPr>
              <a:t>Queue tabs</a:t>
            </a:r>
            <a:pPr indent="0" marL="0">
              <a:buNone/>
            </a:pPr>
            <a:r>
              <a:rPr lang="en-US" sz="1280" dirty="0">
                <a:solidFill>
                  <a:srgbClr val="330F60"/>
                </a:solidFill>
              </a:rPr>
              <a:t> filter leads by stage: Queued, Contacted, Replied, Demo booked.</a:t>
            </a:r>
            <a:endParaRPr lang="en-US" sz="1280" dirty="0"/>
          </a:p>
        </p:txBody>
      </p:sp>
      <p:sp>
        <p:nvSpPr>
          <p:cNvPr id="23" name="Shape 19"/>
          <p:cNvSpPr/>
          <p:nvPr/>
        </p:nvSpPr>
        <p:spPr>
          <a:xfrm>
            <a:off x="6000600" y="4781430"/>
            <a:ext cx="104772" cy="104772"/>
          </a:xfrm>
          <a:prstGeom prst="rect">
            <a:avLst/>
          </a:prstGeom>
          <a:solidFill>
            <a:srgbClr val="DFAE3E"/>
          </a:solidFill>
          <a:ln/>
        </p:spPr>
      </p:sp>
      <p:sp>
        <p:nvSpPr>
          <p:cNvPr id="24" name="Text 20"/>
          <p:cNvSpPr txBox="1"/>
          <p:nvPr/>
        </p:nvSpPr>
        <p:spPr>
          <a:xfrm>
            <a:off x="6210145" y="4724282"/>
            <a:ext cx="5429114" cy="571486"/>
          </a:xfrm>
          <a:prstGeom prst="rect">
            <a:avLst/>
          </a:prstGeom>
          <a:noFill/>
          <a:ln/>
        </p:spPr>
        <p:txBody>
          <a:bodyPr wrap="square" lIns="0" tIns="0" rIns="0" bIns="0" rtlCol="0" anchor="t"/>
          <a:lstStyle/>
          <a:p>
            <a:pPr indent="0" marL="0">
              <a:buNone/>
            </a:pPr>
            <a:r>
              <a:rPr lang="en-US" sz="1280" b="1" dirty="0">
                <a:solidFill>
                  <a:srgbClr val="330F60"/>
                </a:solidFill>
              </a:rPr>
              <a:t>Activity tab</a:t>
            </a:r>
            <a:pPr indent="0" marL="0">
              <a:buNone/>
            </a:pPr>
            <a:r>
              <a:rPr lang="en-US" sz="1280" dirty="0">
                <a:solidFill>
                  <a:srgbClr val="330F60"/>
                </a:solidFill>
              </a:rPr>
              <a:t> tracks each company’s rank week over week.</a:t>
            </a:r>
            <a:endParaRPr lang="en-US" sz="1280" dirty="0"/>
          </a:p>
        </p:txBody>
      </p:sp>
      <p:sp>
        <p:nvSpPr>
          <p:cNvPr id="25" name="Slide Number Placeholder 0"/>
          <p:cNvSpPr>
            <a:spLocks noGrp="1"/>
          </p:cNvSpPr>
          <p:nvPr>
            <p:ph type="sldNum" sz="quarter" idx="4294967295"/>
          </p:nvPr>
        </p:nvSpPr>
        <p:spPr>
          <a:xfrm>
            <a:off x="11239219" y="6591135"/>
            <a:ext cx="380990" cy="190495"/>
          </a:xfrm>
          <a:prstGeom prst="rect">
            <a:avLst/>
          </a:prstGeom>
          <a:extLst>
            <a:ext uri="{C572A759-6A51-4108-AA02-DFA0A04FC94B}">
              <ma14:wrappingTextBoxFlag xmlns:ma14="http://schemas.microsoft.com/office/mac/drawingml/2011/main" val="0"/>
            </a:ext>
          </a:extLst>
        </p:spPr>
        <p:txBody>
          <a:bodyPr/>
          <a:lstStyle>
            <a:lvl1pPr>
              <a:defRPr sz="980">
                <a:solidFill>
                  <a:srgbClr val="330F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Mando logo"/>
          <p:cNvSpPr txBox="1"/>
          <p:nvPr/>
        </p:nvSpPr>
        <p:spPr>
          <a:xfrm>
            <a:off x="10001000"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Mando logo</a:t>
            </a:r>
            <a:endParaRPr lang="en-US" sz="830" dirty="0"/>
          </a:p>
        </p:txBody>
      </p:sp>
      <p:sp>
        <p:nvSpPr>
          <p:cNvPr id="3" name="CUBE logo"/>
          <p:cNvSpPr txBox="1"/>
          <p:nvPr/>
        </p:nvSpPr>
        <p:spPr>
          <a:xfrm>
            <a:off x="10858229" y="228594"/>
            <a:ext cx="685783" cy="685783"/>
          </a:xfrm>
          <a:prstGeom prst="rect">
            <a:avLst/>
          </a:prstGeom>
          <a:noFill/>
          <a:ln w="12700">
            <a:solidFill>
              <a:srgbClr val="BBBBBB"/>
            </a:solidFill>
            <a:prstDash val="dash"/>
          </a:ln>
        </p:spPr>
        <p:txBody>
          <a:bodyPr wrap="square" rtlCol="0" anchor="ctr"/>
          <a:lstStyle/>
          <a:p>
            <a:pPr algn="ctr" indent="0" marL="0">
              <a:buNone/>
            </a:pPr>
            <a:r>
              <a:rPr lang="en-US" sz="830" dirty="0">
                <a:solidFill>
                  <a:srgbClr val="999999"/>
                </a:solidFill>
              </a:rPr>
              <a:t>CUBE logo</a:t>
            </a:r>
            <a:endParaRPr lang="en-US" sz="830" dirty="0"/>
          </a:p>
        </p:txBody>
      </p:sp>
      <p:sp>
        <p:nvSpPr>
          <p:cNvPr id="4" name="Header bar"/>
          <p:cNvSpPr/>
          <p:nvPr/>
        </p:nvSpPr>
        <p:spPr>
          <a:xfrm>
            <a:off x="361941" y="1428714"/>
            <a:ext cx="11277318" cy="876278"/>
          </a:xfrm>
          <a:prstGeom prst="rect">
            <a:avLst/>
          </a:prstGeom>
          <a:solidFill>
            <a:srgbClr val="3E1370"/>
          </a:solidFill>
          <a:ln/>
        </p:spPr>
      </p:sp>
      <p:sp>
        <p:nvSpPr>
          <p:cNvPr id="5" name="Shape 3"/>
          <p:cNvSpPr/>
          <p:nvPr/>
        </p:nvSpPr>
        <p:spPr>
          <a:xfrm>
            <a:off x="361941" y="1428714"/>
            <a:ext cx="133347" cy="876278"/>
          </a:xfrm>
          <a:prstGeom prst="rect">
            <a:avLst/>
          </a:prstGeom>
          <a:solidFill>
            <a:srgbClr val="DFAE3E"/>
          </a:solidFill>
          <a:ln/>
        </p:spPr>
      </p:sp>
      <p:sp>
        <p:nvSpPr>
          <p:cNvPr id="6" name="Text 4"/>
          <p:cNvSpPr txBox="1"/>
          <p:nvPr/>
        </p:nvSpPr>
        <p:spPr>
          <a:xfrm>
            <a:off x="704832" y="1504912"/>
            <a:ext cx="10762981" cy="723882"/>
          </a:xfrm>
          <a:prstGeom prst="rect">
            <a:avLst/>
          </a:prstGeom>
          <a:noFill/>
          <a:ln/>
        </p:spPr>
        <p:txBody>
          <a:bodyPr wrap="square" lIns="0" tIns="0" rIns="0" bIns="0" rtlCol="0" anchor="ctr"/>
          <a:lstStyle/>
          <a:p>
            <a:pPr indent="0" marL="0">
              <a:spcAft>
                <a:spcPts val="300"/>
              </a:spcAft>
              <a:buNone/>
            </a:pPr>
            <a:r>
              <a:rPr lang="en-US" sz="1650" b="1" dirty="0">
                <a:solidFill>
                  <a:srgbClr val="DFAE3E"/>
                </a:solidFill>
              </a:rPr>
              <a:t>WHERE WE STAND</a:t>
            </a:r>
            <a:endParaRPr lang="en-US" sz="1650" dirty="0"/>
          </a:p>
          <a:p>
            <a:pPr indent="0" marL="0">
              <a:spcAft>
                <a:spcPts val="300"/>
              </a:spcAft>
              <a:buNone/>
            </a:pPr>
            <a:r>
              <a:rPr lang="en-US" sz="1950" b="1" dirty="0">
                <a:solidFill>
                  <a:srgbClr val="FFFFFF"/>
                </a:solidFill>
              </a:rPr>
              <a:t>Current pipeline vs. the 20 demos / week goal</a:t>
            </a:r>
            <a:endParaRPr lang="en-US" sz="1650" dirty="0"/>
          </a:p>
        </p:txBody>
      </p:sp>
      <p:sp>
        <p:nvSpPr>
          <p:cNvPr id="7" name="Takeaway"/>
          <p:cNvSpPr txBox="1"/>
          <p:nvPr/>
        </p:nvSpPr>
        <p:spPr>
          <a:xfrm>
            <a:off x="666733" y="5829154"/>
            <a:ext cx="10667733" cy="533387"/>
          </a:xfrm>
          <a:prstGeom prst="rect">
            <a:avLst/>
          </a:prstGeom>
          <a:noFill/>
          <a:ln w="19050">
            <a:solidFill>
              <a:srgbClr val="3E1370"/>
            </a:solidFill>
          </a:ln>
        </p:spPr>
        <p:txBody>
          <a:bodyPr wrap="square" rtlCol="0" anchor="ctr"/>
          <a:lstStyle/>
          <a:p>
            <a:pPr algn="ctr" indent="0" marL="0">
              <a:buNone/>
            </a:pPr>
            <a:r>
              <a:rPr lang="en-US" sz="1580" dirty="0">
                <a:solidFill>
                  <a:srgbClr val="330F60"/>
                </a:solidFill>
              </a:rPr>
              <a:t>Next: report replies and demos booked every week.</a:t>
            </a:r>
            <a:endParaRPr lang="en-US" sz="1580" dirty="0"/>
          </a:p>
        </p:txBody>
      </p:sp>
      <p:sp>
        <p:nvSpPr>
          <p:cNvPr id="9" name="Shape 6"/>
          <p:cNvSpPr/>
          <p:nvPr/>
        </p:nvSpPr>
        <p:spPr>
          <a:xfrm>
            <a:off x="361941" y="2495488"/>
            <a:ext cx="2690745" cy="819130"/>
          </a:xfrm>
          <a:prstGeom prst="rect">
            <a:avLst/>
          </a:prstGeom>
          <a:solidFill>
            <a:srgbClr val="FFFFFF"/>
          </a:solidFill>
          <a:ln w="19050">
            <a:solidFill>
              <a:srgbClr val="3E1370"/>
            </a:solidFill>
            <a:prstDash val="solid"/>
          </a:ln>
        </p:spPr>
      </p:sp>
      <p:sp>
        <p:nvSpPr>
          <p:cNvPr id="10" name="Shape 7"/>
          <p:cNvSpPr/>
          <p:nvPr/>
        </p:nvSpPr>
        <p:spPr>
          <a:xfrm>
            <a:off x="361941" y="2495488"/>
            <a:ext cx="2690745" cy="85723"/>
          </a:xfrm>
          <a:prstGeom prst="rect">
            <a:avLst/>
          </a:prstGeom>
          <a:solidFill>
            <a:srgbClr val="DFAE3E"/>
          </a:solidFill>
          <a:ln/>
        </p:spPr>
      </p:sp>
      <p:sp>
        <p:nvSpPr>
          <p:cNvPr id="11" name="KPI companies scored"/>
          <p:cNvSpPr txBox="1"/>
          <p:nvPr/>
        </p:nvSpPr>
        <p:spPr>
          <a:xfrm>
            <a:off x="361941" y="2590735"/>
            <a:ext cx="2690745" cy="704832"/>
          </a:xfrm>
          <a:prstGeom prst="rect">
            <a:avLst/>
          </a:prstGeom>
          <a:noFill/>
          <a:ln/>
        </p:spPr>
        <p:txBody>
          <a:bodyPr wrap="square" lIns="0" tIns="0" rIns="0" bIns="0" rtlCol="0" anchor="ctr"/>
          <a:lstStyle/>
          <a:p>
            <a:pPr algn="ctr" indent="0" marL="0">
              <a:buNone/>
            </a:pPr>
            <a:r>
              <a:rPr lang="en-US" sz="2850" b="1" dirty="0">
                <a:solidFill>
                  <a:srgbClr val="3E1370"/>
                </a:solidFill>
              </a:rPr>
              <a:t>127</a:t>
            </a:r>
            <a:endParaRPr lang="en-US" sz="2850" dirty="0"/>
          </a:p>
          <a:p>
            <a:pPr algn="ctr" indent="0" marL="0">
              <a:buNone/>
            </a:pPr>
            <a:r>
              <a:rPr lang="en-US" sz="1130" dirty="0">
                <a:solidFill>
                  <a:srgbClr val="330F60"/>
                </a:solidFill>
              </a:rPr>
              <a:t>companies scored</a:t>
            </a:r>
            <a:endParaRPr lang="en-US" sz="2850" dirty="0"/>
          </a:p>
        </p:txBody>
      </p:sp>
      <p:sp>
        <p:nvSpPr>
          <p:cNvPr id="12" name="Shape 9"/>
          <p:cNvSpPr/>
          <p:nvPr/>
        </p:nvSpPr>
        <p:spPr>
          <a:xfrm>
            <a:off x="3224132" y="2495488"/>
            <a:ext cx="2690745" cy="819130"/>
          </a:xfrm>
          <a:prstGeom prst="rect">
            <a:avLst/>
          </a:prstGeom>
          <a:solidFill>
            <a:srgbClr val="FFFFFF"/>
          </a:solidFill>
          <a:ln w="19050">
            <a:solidFill>
              <a:srgbClr val="3E1370"/>
            </a:solidFill>
            <a:prstDash val="solid"/>
          </a:ln>
        </p:spPr>
      </p:sp>
      <p:sp>
        <p:nvSpPr>
          <p:cNvPr id="13" name="Shape 10"/>
          <p:cNvSpPr/>
          <p:nvPr/>
        </p:nvSpPr>
        <p:spPr>
          <a:xfrm>
            <a:off x="3224132" y="2495488"/>
            <a:ext cx="2690745" cy="85723"/>
          </a:xfrm>
          <a:prstGeom prst="rect">
            <a:avLst/>
          </a:prstGeom>
          <a:solidFill>
            <a:srgbClr val="DFAE3E"/>
          </a:solidFill>
          <a:ln/>
        </p:spPr>
      </p:sp>
      <p:sp>
        <p:nvSpPr>
          <p:cNvPr id="14" name="KPI buyer contacts"/>
          <p:cNvSpPr txBox="1"/>
          <p:nvPr/>
        </p:nvSpPr>
        <p:spPr>
          <a:xfrm>
            <a:off x="3224132" y="2590735"/>
            <a:ext cx="2690745" cy="704832"/>
          </a:xfrm>
          <a:prstGeom prst="rect">
            <a:avLst/>
          </a:prstGeom>
          <a:noFill/>
          <a:ln/>
        </p:spPr>
        <p:txBody>
          <a:bodyPr wrap="square" lIns="0" tIns="0" rIns="0" bIns="0" rtlCol="0" anchor="ctr"/>
          <a:lstStyle/>
          <a:p>
            <a:pPr algn="ctr" indent="0" marL="0">
              <a:buNone/>
            </a:pPr>
            <a:r>
              <a:rPr lang="en-US" sz="2850" b="1" dirty="0">
                <a:solidFill>
                  <a:srgbClr val="3E1370"/>
                </a:solidFill>
              </a:rPr>
              <a:t>146</a:t>
            </a:r>
            <a:endParaRPr lang="en-US" sz="2850" dirty="0"/>
          </a:p>
          <a:p>
            <a:pPr algn="ctr" indent="0" marL="0">
              <a:buNone/>
            </a:pPr>
            <a:r>
              <a:rPr lang="en-US" sz="1130" dirty="0">
                <a:solidFill>
                  <a:srgbClr val="330F60"/>
                </a:solidFill>
              </a:rPr>
              <a:t>buyer contacts</a:t>
            </a:r>
            <a:endParaRPr lang="en-US" sz="2850" dirty="0"/>
          </a:p>
        </p:txBody>
      </p:sp>
      <p:sp>
        <p:nvSpPr>
          <p:cNvPr id="15" name="Shape 12"/>
          <p:cNvSpPr/>
          <p:nvPr/>
        </p:nvSpPr>
        <p:spPr>
          <a:xfrm>
            <a:off x="6086323" y="2495488"/>
            <a:ext cx="2690745" cy="819130"/>
          </a:xfrm>
          <a:prstGeom prst="rect">
            <a:avLst/>
          </a:prstGeom>
          <a:solidFill>
            <a:srgbClr val="FFFFFF"/>
          </a:solidFill>
          <a:ln w="19050">
            <a:solidFill>
              <a:srgbClr val="3E1370"/>
            </a:solidFill>
            <a:prstDash val="solid"/>
          </a:ln>
        </p:spPr>
      </p:sp>
      <p:sp>
        <p:nvSpPr>
          <p:cNvPr id="16" name="Shape 13"/>
          <p:cNvSpPr/>
          <p:nvPr/>
        </p:nvSpPr>
        <p:spPr>
          <a:xfrm>
            <a:off x="6086323" y="2495488"/>
            <a:ext cx="2690745" cy="85723"/>
          </a:xfrm>
          <a:prstGeom prst="rect">
            <a:avLst/>
          </a:prstGeom>
          <a:solidFill>
            <a:srgbClr val="DFAE3E"/>
          </a:solidFill>
          <a:ln/>
        </p:spPr>
      </p:sp>
      <p:sp>
        <p:nvSpPr>
          <p:cNvPr id="17" name="KPI ready to contact"/>
          <p:cNvSpPr txBox="1"/>
          <p:nvPr/>
        </p:nvSpPr>
        <p:spPr>
          <a:xfrm>
            <a:off x="6086323" y="2590735"/>
            <a:ext cx="2690745" cy="704832"/>
          </a:xfrm>
          <a:prstGeom prst="rect">
            <a:avLst/>
          </a:prstGeom>
          <a:noFill/>
          <a:ln/>
        </p:spPr>
        <p:txBody>
          <a:bodyPr wrap="square" lIns="0" tIns="0" rIns="0" bIns="0" rtlCol="0" anchor="ctr"/>
          <a:lstStyle/>
          <a:p>
            <a:pPr algn="ctr" indent="0" marL="0">
              <a:buNone/>
            </a:pPr>
            <a:r>
              <a:rPr lang="en-US" sz="2850" b="1" dirty="0">
                <a:solidFill>
                  <a:srgbClr val="3E1370"/>
                </a:solidFill>
              </a:rPr>
              <a:t>21</a:t>
            </a:r>
            <a:endParaRPr lang="en-US" sz="2850" dirty="0"/>
          </a:p>
          <a:p>
            <a:pPr algn="ctr" indent="0" marL="0">
              <a:buNone/>
            </a:pPr>
            <a:r>
              <a:rPr lang="en-US" sz="1130" dirty="0">
                <a:solidFill>
                  <a:srgbClr val="330F60"/>
                </a:solidFill>
              </a:rPr>
              <a:t>ready to contact</a:t>
            </a:r>
            <a:endParaRPr lang="en-US" sz="2850" dirty="0"/>
          </a:p>
        </p:txBody>
      </p:sp>
      <p:sp>
        <p:nvSpPr>
          <p:cNvPr id="18" name="Shape 15"/>
          <p:cNvSpPr/>
          <p:nvPr/>
        </p:nvSpPr>
        <p:spPr>
          <a:xfrm>
            <a:off x="8948514" y="2495488"/>
            <a:ext cx="2690745" cy="819130"/>
          </a:xfrm>
          <a:prstGeom prst="rect">
            <a:avLst/>
          </a:prstGeom>
          <a:solidFill>
            <a:srgbClr val="FFFFFF"/>
          </a:solidFill>
          <a:ln w="19050">
            <a:solidFill>
              <a:srgbClr val="3E1370"/>
            </a:solidFill>
            <a:prstDash val="solid"/>
          </a:ln>
        </p:spPr>
      </p:sp>
      <p:sp>
        <p:nvSpPr>
          <p:cNvPr id="19" name="Shape 16"/>
          <p:cNvSpPr/>
          <p:nvPr/>
        </p:nvSpPr>
        <p:spPr>
          <a:xfrm>
            <a:off x="8948514" y="2495488"/>
            <a:ext cx="2690745" cy="85723"/>
          </a:xfrm>
          <a:prstGeom prst="rect">
            <a:avLst/>
          </a:prstGeom>
          <a:solidFill>
            <a:srgbClr val="DFAE3E"/>
          </a:solidFill>
          <a:ln/>
        </p:spPr>
      </p:sp>
      <p:sp>
        <p:nvSpPr>
          <p:cNvPr id="20" name="KPI demo goal (from 2–5)"/>
          <p:cNvSpPr txBox="1"/>
          <p:nvPr/>
        </p:nvSpPr>
        <p:spPr>
          <a:xfrm>
            <a:off x="8948514" y="2590735"/>
            <a:ext cx="2690745" cy="704832"/>
          </a:xfrm>
          <a:prstGeom prst="rect">
            <a:avLst/>
          </a:prstGeom>
          <a:noFill/>
          <a:ln/>
        </p:spPr>
        <p:txBody>
          <a:bodyPr wrap="square" lIns="0" tIns="0" rIns="0" bIns="0" rtlCol="0" anchor="ctr"/>
          <a:lstStyle/>
          <a:p>
            <a:pPr algn="ctr" indent="0" marL="0">
              <a:buNone/>
            </a:pPr>
            <a:r>
              <a:rPr lang="en-US" sz="2850" b="1" dirty="0">
                <a:solidFill>
                  <a:srgbClr val="3E1370"/>
                </a:solidFill>
              </a:rPr>
              <a:t>20 / wk</a:t>
            </a:r>
            <a:endParaRPr lang="en-US" sz="2850" dirty="0"/>
          </a:p>
          <a:p>
            <a:pPr algn="ctr" indent="0" marL="0">
              <a:buNone/>
            </a:pPr>
            <a:r>
              <a:rPr lang="en-US" sz="1130" dirty="0">
                <a:solidFill>
                  <a:srgbClr val="330F60"/>
                </a:solidFill>
              </a:rPr>
              <a:t>demo goal (from 2–5)</a:t>
            </a:r>
            <a:endParaRPr lang="en-US" sz="2850" dirty="0"/>
          </a:p>
        </p:txBody>
      </p:sp>
      <p:pic>
        <p:nvPicPr>
          <p:cNvPr id="21" name="06_screenshot_todays_leads.png" descr="/tmp/claude-0/s/deck/c_06_screenshot_todays_leads.png">    </p:cNvPr>
          <p:cNvPicPr>
            <a:picLocks noChangeAspect="1"/>
          </p:cNvPicPr>
          <p:nvPr/>
        </p:nvPicPr>
        <p:blipFill>
          <a:blip r:embed="rId1"/>
          <a:stretch>
            <a:fillRect/>
          </a:stretch>
        </p:blipFill>
        <p:spPr>
          <a:xfrm>
            <a:off x="361941" y="3505112"/>
            <a:ext cx="5524362" cy="1904952"/>
          </a:xfrm>
          <a:prstGeom prst="rect">
            <a:avLst/>
          </a:prstGeom>
        </p:spPr>
      </p:pic>
      <p:sp>
        <p:nvSpPr>
          <p:cNvPr id="22" name="Text 18"/>
          <p:cNvSpPr txBox="1"/>
          <p:nvPr/>
        </p:nvSpPr>
        <p:spPr>
          <a:xfrm>
            <a:off x="361941" y="5448164"/>
            <a:ext cx="5524362" cy="190495"/>
          </a:xfrm>
          <a:prstGeom prst="rect">
            <a:avLst/>
          </a:prstGeom>
          <a:noFill/>
          <a:ln/>
        </p:spPr>
        <p:txBody>
          <a:bodyPr wrap="square" lIns="0" tIns="0" rIns="0" bIns="0" rtlCol="0" anchor="ctr"/>
          <a:lstStyle/>
          <a:p>
            <a:pPr indent="0" marL="0">
              <a:buNone/>
            </a:pPr>
            <a:r>
              <a:rPr lang="en-US" sz="980" i="1" dirty="0">
                <a:solidFill>
                  <a:srgbClr val="6A5A85"/>
                </a:solidFill>
              </a:rPr>
              <a:t>Today’s leads: twice-weekly top-10 review</a:t>
            </a:r>
            <a:endParaRPr lang="en-US" sz="980" dirty="0"/>
          </a:p>
        </p:txBody>
      </p:sp>
      <p:sp>
        <p:nvSpPr>
          <p:cNvPr id="23" name="Shape 19"/>
          <p:cNvSpPr/>
          <p:nvPr/>
        </p:nvSpPr>
        <p:spPr>
          <a:xfrm>
            <a:off x="6114897" y="3505112"/>
            <a:ext cx="5524362" cy="933427"/>
          </a:xfrm>
          <a:prstGeom prst="rect">
            <a:avLst/>
          </a:prstGeom>
          <a:solidFill>
            <a:srgbClr val="AD8ED4"/>
          </a:solidFill>
          <a:ln/>
        </p:spPr>
      </p:sp>
      <p:sp>
        <p:nvSpPr>
          <p:cNvPr id="24" name="Shape 20"/>
          <p:cNvSpPr/>
          <p:nvPr/>
        </p:nvSpPr>
        <p:spPr>
          <a:xfrm>
            <a:off x="6114897" y="3505112"/>
            <a:ext cx="5524362" cy="66673"/>
          </a:xfrm>
          <a:prstGeom prst="rect">
            <a:avLst/>
          </a:prstGeom>
          <a:solidFill>
            <a:srgbClr val="DFAE3E"/>
          </a:solidFill>
          <a:ln/>
        </p:spPr>
      </p:sp>
      <p:sp>
        <p:nvSpPr>
          <p:cNvPr id="25" name="Shape 21"/>
          <p:cNvSpPr/>
          <p:nvPr/>
        </p:nvSpPr>
        <p:spPr>
          <a:xfrm>
            <a:off x="6286343" y="3790855"/>
            <a:ext cx="419090" cy="419090"/>
          </a:xfrm>
          <a:prstGeom prst="ellipse">
            <a:avLst/>
          </a:prstGeom>
          <a:solidFill>
            <a:srgbClr val="DFAE3E"/>
          </a:solidFill>
          <a:ln/>
        </p:spPr>
      </p:sp>
      <p:sp>
        <p:nvSpPr>
          <p:cNvPr id="26" name="Text 22"/>
          <p:cNvSpPr txBox="1"/>
          <p:nvPr/>
        </p:nvSpPr>
        <p:spPr>
          <a:xfrm>
            <a:off x="6286343" y="3790855"/>
            <a:ext cx="419090" cy="419090"/>
          </a:xfrm>
          <a:prstGeom prst="rect">
            <a:avLst/>
          </a:prstGeom>
          <a:noFill/>
          <a:ln/>
        </p:spPr>
        <p:txBody>
          <a:bodyPr wrap="square" lIns="0" tIns="0" rIns="0" bIns="0" rtlCol="0" anchor="ctr"/>
          <a:lstStyle/>
          <a:p>
            <a:pPr algn="ctr" indent="0" marL="0">
              <a:buNone/>
            </a:pPr>
            <a:r>
              <a:rPr lang="en-US" sz="1280" b="1" dirty="0">
                <a:solidFill>
                  <a:srgbClr val="330F60"/>
                </a:solidFill>
              </a:rPr>
              <a:t>01</a:t>
            </a:r>
            <a:endParaRPr lang="en-US" sz="1280" dirty="0"/>
          </a:p>
        </p:txBody>
      </p:sp>
      <p:sp>
        <p:nvSpPr>
          <p:cNvPr id="27" name="Text 23"/>
          <p:cNvSpPr txBox="1"/>
          <p:nvPr/>
        </p:nvSpPr>
        <p:spPr>
          <a:xfrm>
            <a:off x="6876878" y="3638459"/>
            <a:ext cx="4619510" cy="742931"/>
          </a:xfrm>
          <a:prstGeom prst="rect">
            <a:avLst/>
          </a:prstGeom>
          <a:noFill/>
          <a:ln/>
        </p:spPr>
        <p:txBody>
          <a:bodyPr wrap="square" lIns="0" tIns="0" rIns="0" bIns="0" rtlCol="0" anchor="ctr"/>
          <a:lstStyle/>
          <a:p>
            <a:pPr indent="0" marL="0">
              <a:spcAft>
                <a:spcPts val="300"/>
              </a:spcAft>
              <a:buNone/>
            </a:pPr>
            <a:r>
              <a:rPr lang="en-US" sz="1430" b="1" dirty="0">
                <a:solidFill>
                  <a:srgbClr val="330F60"/>
                </a:solidFill>
              </a:rPr>
              <a:t>Turn on status tracking</a:t>
            </a:r>
            <a:endParaRPr lang="en-US" sz="1430" dirty="0"/>
          </a:p>
          <a:p>
            <a:pPr indent="0" marL="0">
              <a:spcAft>
                <a:spcPts val="300"/>
              </a:spcAft>
              <a:buNone/>
            </a:pPr>
            <a:r>
              <a:rPr lang="en-US" sz="1200" dirty="0">
                <a:solidFill>
                  <a:srgbClr val="330F60"/>
                </a:solidFill>
              </a:rPr>
              <a:t>Apply the lead-status migration so stage counts go live.</a:t>
            </a:r>
            <a:endParaRPr lang="en-US" sz="1430" dirty="0"/>
          </a:p>
        </p:txBody>
      </p:sp>
      <p:sp>
        <p:nvSpPr>
          <p:cNvPr id="28" name="Shape 24"/>
          <p:cNvSpPr/>
          <p:nvPr/>
        </p:nvSpPr>
        <p:spPr>
          <a:xfrm>
            <a:off x="6114897" y="4571886"/>
            <a:ext cx="5524362" cy="933427"/>
          </a:xfrm>
          <a:prstGeom prst="rect">
            <a:avLst/>
          </a:prstGeom>
          <a:solidFill>
            <a:srgbClr val="AD8ED4"/>
          </a:solidFill>
          <a:ln/>
        </p:spPr>
      </p:sp>
      <p:sp>
        <p:nvSpPr>
          <p:cNvPr id="29" name="Shape 25"/>
          <p:cNvSpPr/>
          <p:nvPr/>
        </p:nvSpPr>
        <p:spPr>
          <a:xfrm>
            <a:off x="6114897" y="4571886"/>
            <a:ext cx="5524362" cy="66673"/>
          </a:xfrm>
          <a:prstGeom prst="rect">
            <a:avLst/>
          </a:prstGeom>
          <a:solidFill>
            <a:srgbClr val="DFAE3E"/>
          </a:solidFill>
          <a:ln/>
        </p:spPr>
      </p:sp>
      <p:sp>
        <p:nvSpPr>
          <p:cNvPr id="30" name="Shape 26"/>
          <p:cNvSpPr/>
          <p:nvPr/>
        </p:nvSpPr>
        <p:spPr>
          <a:xfrm>
            <a:off x="6286343" y="4857629"/>
            <a:ext cx="419090" cy="419090"/>
          </a:xfrm>
          <a:prstGeom prst="ellipse">
            <a:avLst/>
          </a:prstGeom>
          <a:solidFill>
            <a:srgbClr val="DFAE3E"/>
          </a:solidFill>
          <a:ln/>
        </p:spPr>
      </p:sp>
      <p:sp>
        <p:nvSpPr>
          <p:cNvPr id="31" name="Text 27"/>
          <p:cNvSpPr txBox="1"/>
          <p:nvPr/>
        </p:nvSpPr>
        <p:spPr>
          <a:xfrm>
            <a:off x="6286343" y="4857629"/>
            <a:ext cx="419090" cy="419090"/>
          </a:xfrm>
          <a:prstGeom prst="rect">
            <a:avLst/>
          </a:prstGeom>
          <a:noFill/>
          <a:ln/>
        </p:spPr>
        <p:txBody>
          <a:bodyPr wrap="square" lIns="0" tIns="0" rIns="0" bIns="0" rtlCol="0" anchor="ctr"/>
          <a:lstStyle/>
          <a:p>
            <a:pPr algn="ctr" indent="0" marL="0">
              <a:buNone/>
            </a:pPr>
            <a:r>
              <a:rPr lang="en-US" sz="1280" b="1" dirty="0">
                <a:solidFill>
                  <a:srgbClr val="330F60"/>
                </a:solidFill>
              </a:rPr>
              <a:t>02</a:t>
            </a:r>
            <a:endParaRPr lang="en-US" sz="1280" dirty="0"/>
          </a:p>
        </p:txBody>
      </p:sp>
      <p:sp>
        <p:nvSpPr>
          <p:cNvPr id="32" name="Text 28"/>
          <p:cNvSpPr txBox="1"/>
          <p:nvPr/>
        </p:nvSpPr>
        <p:spPr>
          <a:xfrm>
            <a:off x="6876878" y="4705232"/>
            <a:ext cx="4619510" cy="742931"/>
          </a:xfrm>
          <a:prstGeom prst="rect">
            <a:avLst/>
          </a:prstGeom>
          <a:noFill/>
          <a:ln/>
        </p:spPr>
        <p:txBody>
          <a:bodyPr wrap="square" lIns="0" tIns="0" rIns="0" bIns="0" rtlCol="0" anchor="ctr"/>
          <a:lstStyle/>
          <a:p>
            <a:pPr indent="0" marL="0">
              <a:spcAft>
                <a:spcPts val="300"/>
              </a:spcAft>
              <a:buNone/>
            </a:pPr>
            <a:r>
              <a:rPr lang="en-US" sz="1430" b="1" dirty="0">
                <a:solidFill>
                  <a:srgbClr val="330F60"/>
                </a:solidFill>
              </a:rPr>
              <a:t>Send first batch</a:t>
            </a:r>
            <a:endParaRPr lang="en-US" sz="1430" dirty="0"/>
          </a:p>
          <a:p>
            <a:pPr indent="0" marL="0">
              <a:spcAft>
                <a:spcPts val="300"/>
              </a:spcAft>
              <a:buNone/>
            </a:pPr>
            <a:r>
              <a:rPr lang="en-US" sz="1200" dirty="0">
                <a:solidFill>
                  <a:srgbClr val="330F60"/>
                </a:solidFill>
              </a:rPr>
              <a:t>Reach out to the 21 ready contacts.</a:t>
            </a:r>
            <a:endParaRPr lang="en-US" sz="1430" dirty="0"/>
          </a:p>
        </p:txBody>
      </p:sp>
      <p:sp>
        <p:nvSpPr>
          <p:cNvPr id="25" name="Slide Number Placeholder 0"/>
          <p:cNvSpPr>
            <a:spLocks noGrp="1"/>
          </p:cNvSpPr>
          <p:nvPr>
            <p:ph type="sldNum" sz="quarter" idx="4294967295"/>
          </p:nvPr>
        </p:nvSpPr>
        <p:spPr>
          <a:xfrm>
            <a:off x="11239219" y="6591135"/>
            <a:ext cx="380990" cy="190495"/>
          </a:xfrm>
          <a:prstGeom prst="rect">
            <a:avLst/>
          </a:prstGeom>
          <a:extLst>
            <a:ext uri="{C572A759-6A51-4108-AA02-DFA0A04FC94B}">
              <ma14:wrappingTextBoxFlag xmlns:ma14="http://schemas.microsoft.com/office/mac/drawingml/2011/main" val="0"/>
            </a:ext>
          </a:extLst>
        </p:spPr>
        <p:txBody>
          <a:bodyPr/>
          <a:lstStyle>
            <a:lvl1pPr>
              <a:defRPr sz="980">
                <a:solidFill>
                  <a:srgbClr val="330F60"/>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Outreach – Outreach &amp; Lead Status</dc:title>
  <dc:subject>PptxGenJS Presentation</dc:subject>
  <dc:creator>Nikhil Lalwani</dc:creator>
  <cp:lastModifiedBy>Nikhil Lalwani</cp:lastModifiedBy>
  <cp:revision>1</cp:revision>
  <dcterms:created xsi:type="dcterms:W3CDTF">2026-10-17T17:43:21Z</dcterms:created>
  <dcterms:modified xsi:type="dcterms:W3CDTF">2026-10-17T17:43:21Z</dcterms:modified>
</cp:coreProperties>
</file>